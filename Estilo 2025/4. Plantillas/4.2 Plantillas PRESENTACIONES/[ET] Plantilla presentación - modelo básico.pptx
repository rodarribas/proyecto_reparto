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Outfit"/>
      <p:regular r:id="rId16"/>
      <p:bold r:id="rId17"/>
    </p:embeddedFont>
    <p:embeddedFont>
      <p:font typeface="Outfit Medium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56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227">
          <p15:clr>
            <a:srgbClr val="9AA0A6"/>
          </p15:clr>
        </p15:guide>
        <p15:guide id="4" orient="horz" pos="2778">
          <p15:clr>
            <a:srgbClr val="9AA0A6"/>
          </p15:clr>
        </p15:guide>
        <p15:guide id="5" orient="horz" pos="751">
          <p15:clr>
            <a:srgbClr val="9AA0A6"/>
          </p15:clr>
        </p15:guide>
        <p15:guide id="6" pos="44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280249-5B95-4148-820A-45C8FD705D22}">
  <a:tblStyle styleId="{A7280249-5B95-4148-820A-45C8FD705D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56"/>
        <p:guide pos="227"/>
        <p:guide pos="227" orient="horz"/>
        <p:guide pos="2778" orient="horz"/>
        <p:guide pos="751" orient="horz"/>
        <p:guide pos="447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utfit-bold.fntdata"/><Relationship Id="rId16" Type="http://schemas.openxmlformats.org/officeDocument/2006/relationships/font" Target="fonts/Outfi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utfitMedium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utfi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d44300c64_0_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3d44300c64_0_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1" name="Google Shape;61;g33d44300c64_0_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d44300c64_0_1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3d44300c64_0_1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3" name="Google Shape;73;g33d44300c64_0_1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d44300c64_0_22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3d44300c64_0_22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3" name="Google Shape;83;g33d44300c64_0_22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d44300c64_0_2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3d44300c64_0_2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3" name="Google Shape;93;g33d44300c64_0_2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d496ade0f_0_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3d496ade0f_0_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5" name="Google Shape;105;g33d496ade0f_0_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d496ade0f_0_2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3d496ade0f_0_2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6" name="Google Shape;116;g33d496ade0f_0_2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496ade0f_0_3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3d496ade0f_0_3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8" name="Google Shape;128;g33d496ade0f_0_3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d44300c64_0_19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3d44300c64_0_19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9" name="Google Shape;139;g33d44300c64_0_19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44300c64_0_20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3d44300c64_0_20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7" name="Google Shape;147;g33d44300c64_0_20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somenergia.coop" TargetMode="External"/><Relationship Id="rId5" Type="http://schemas.openxmlformats.org/officeDocument/2006/relationships/hyperlink" Target="https://somenergia.coop" TargetMode="External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hyperlink" Target="https://somenergia.co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0437" cy="471584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>
            <a:hlinkClick r:id="rId4"/>
          </p:cNvPr>
          <p:cNvSpPr/>
          <p:nvPr/>
        </p:nvSpPr>
        <p:spPr>
          <a:xfrm>
            <a:off x="214325" y="4715850"/>
            <a:ext cx="1415400" cy="24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210865" y="1149068"/>
            <a:ext cx="875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632B"/>
              </a:buClr>
              <a:buSzPts val="7500"/>
              <a:buFont typeface="Outfit"/>
              <a:buNone/>
            </a:pPr>
            <a:r>
              <a:rPr b="0" i="0" lang="ca" sz="7500" u="none" cap="none" strike="noStrike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Això no va de llum</a:t>
            </a:r>
            <a:endParaRPr b="0" i="0" sz="7500" u="none" cap="none" strike="noStrike">
              <a:solidFill>
                <a:srgbClr val="0B2E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>
            <a:hlinkClick r:id="rId5"/>
          </p:cNvPr>
          <p:cNvSpPr/>
          <p:nvPr/>
        </p:nvSpPr>
        <p:spPr>
          <a:xfrm>
            <a:off x="210861" y="4733168"/>
            <a:ext cx="1415400" cy="24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210871" y="4832218"/>
            <a:ext cx="1564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C4C27"/>
                </a:solidFill>
                <a:latin typeface="Outfit Medium"/>
                <a:ea typeface="Outfit Medium"/>
                <a:cs typeface="Outfit Medium"/>
                <a:sym typeface="Outfit Medium"/>
              </a:rPr>
              <a:t>somenergia.coop</a:t>
            </a:r>
            <a:endParaRPr b="0" i="0" sz="900" u="none" cap="none" strike="noStrike">
              <a:solidFill>
                <a:srgbClr val="0C4C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2425411" y="4832218"/>
            <a:ext cx="165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F0F3EC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C4C27"/>
                </a:solidFill>
                <a:latin typeface="Outfit Medium"/>
                <a:ea typeface="Outfit Medium"/>
                <a:cs typeface="Outfit Medium"/>
                <a:sym typeface="Outfit Medium"/>
              </a:rPr>
              <a:t>24 / 06 / 2025</a:t>
            </a:r>
            <a:endParaRPr b="0" i="0" sz="900" u="none" cap="none" strike="noStrike">
              <a:solidFill>
                <a:srgbClr val="0C4C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3863" y="190500"/>
            <a:ext cx="885825" cy="569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DB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6863" y="2328863"/>
            <a:ext cx="4687137" cy="2814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9788" y="1738313"/>
            <a:ext cx="3224213" cy="333851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1273443" y="1347845"/>
            <a:ext cx="2987100" cy="3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Qui som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Propòsit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D’on venim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 som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Què fem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Producció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Producció pròpia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Autoproducció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Comunitats Energètiques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Altres activitats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Com ens organitzem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Grups Locals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53518" y="1347850"/>
            <a:ext cx="384300" cy="3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11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3100"/>
              <a:buFont typeface="Outfit"/>
              <a:buNone/>
            </a:pPr>
            <a:r>
              <a:rPr lang="ca" sz="1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12</a:t>
            </a:r>
            <a:endParaRPr sz="1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14350" y="261950"/>
            <a:ext cx="30057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lang="ca" sz="1700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Índex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DFF8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0"/>
            <a:ext cx="5538788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214350" y="4364952"/>
            <a:ext cx="48981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300"/>
              <a:buFont typeface="Outfit"/>
              <a:buNone/>
            </a:pPr>
            <a:r>
              <a:rPr lang="ca" sz="40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Títol del separador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214350" y="3627220"/>
            <a:ext cx="2796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4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300"/>
              <a:buFont typeface="Outfit"/>
              <a:buNone/>
            </a:pPr>
            <a:r>
              <a:rPr lang="ca" sz="40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052763"/>
            <a:ext cx="4205288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3" y="733425"/>
            <a:ext cx="4286250" cy="419576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14350" y="261950"/>
            <a:ext cx="30057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lang="ca" sz="1700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Títol apartat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724400" y="771575"/>
            <a:ext cx="420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900"/>
              <a:buFont typeface="Outfit"/>
              <a:buNone/>
            </a:pPr>
            <a:r>
              <a:rPr lang="ca" sz="2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Titolet introductori</a:t>
            </a:r>
            <a:endParaRPr i="0" sz="2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724400" y="1367964"/>
            <a:ext cx="42291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Text de la diapositiva i si cal es ressalta en negreta i pot ser un text llarg de més d’una frase si s’escau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Char char="●"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apartats o punts que poden incloure força text, bla bla bla bla blabla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Char char="●"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apartats o punts que poden inclou     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t/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052763"/>
            <a:ext cx="4205288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214350" y="261950"/>
            <a:ext cx="5282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lang="ca" sz="1700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Títol apartat 2 línies </a:t>
            </a:r>
            <a:endParaRPr sz="1700">
              <a:solidFill>
                <a:srgbClr val="0A292D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lang="ca" sz="1700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(un títol relativament llarg)</a:t>
            </a:r>
            <a:endParaRPr sz="1700">
              <a:solidFill>
                <a:srgbClr val="0A292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214350" y="1575450"/>
            <a:ext cx="805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900"/>
              <a:buFont typeface="Outfit"/>
              <a:buNone/>
            </a:pPr>
            <a:r>
              <a:rPr lang="ca" sz="2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Titolet introductori</a:t>
            </a:r>
            <a:endParaRPr i="0" sz="2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214350" y="2244593"/>
            <a:ext cx="80985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Text de la diapositiva i si cal es ressalta en negreta i pot ser un text llarg de més d’una frase si s’escau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Char char="●"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apartats o punts que poden incloure força text, bla bla bla bla blabla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Char char="●"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apartats o punts que poden inclou     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t/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052763"/>
            <a:ext cx="4205288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214350" y="261950"/>
            <a:ext cx="5282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lang="ca" sz="1700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Títol apartat 2 categories:</a:t>
            </a:r>
            <a:endParaRPr sz="1700">
              <a:solidFill>
                <a:srgbClr val="0A292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214350" y="1575450"/>
            <a:ext cx="805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2900"/>
              <a:buFont typeface="Outfit"/>
              <a:buNone/>
            </a:pPr>
            <a:r>
              <a:rPr lang="ca" sz="2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Titolet introductori</a:t>
            </a:r>
            <a:endParaRPr i="0" sz="2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14350" y="2244593"/>
            <a:ext cx="80985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Text de la diapositiva i si cal es ressalta en negreta i pot ser un text llarg de més d’una frase si s’escau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Char char="●"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apartats o punts que poden incloure força text, bla bla bla bla blabla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400"/>
              <a:buFont typeface="Outfit"/>
              <a:buChar char="●"/>
            </a:pPr>
            <a:r>
              <a:rPr lang="ca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apartats o punts que poden inclou     </a:t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97733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1100"/>
              <a:buFont typeface="Outfit"/>
              <a:buNone/>
            </a:pPr>
            <a:r>
              <a:t/>
            </a:r>
            <a:endParaRPr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214350" y="497475"/>
            <a:ext cx="5282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700">
                <a:solidFill>
                  <a:srgbClr val="FF632B"/>
                </a:solidFill>
                <a:latin typeface="Outfit"/>
                <a:ea typeface="Outfit"/>
                <a:cs typeface="Outfit"/>
                <a:sym typeface="Outfit"/>
              </a:rPr>
              <a:t>Votacions</a:t>
            </a:r>
            <a:endParaRPr sz="1700">
              <a:solidFill>
                <a:srgbClr val="FF632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214313"/>
            <a:ext cx="871537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052763"/>
            <a:ext cx="4205288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214350" y="261950"/>
            <a:ext cx="5282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92D"/>
              </a:buClr>
              <a:buSzPts val="2300"/>
              <a:buFont typeface="Outfit"/>
              <a:buNone/>
            </a:pPr>
            <a:r>
              <a:rPr lang="ca" sz="1700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Títol apartat 2 categories:</a:t>
            </a:r>
            <a:endParaRPr sz="1700">
              <a:solidFill>
                <a:srgbClr val="0A292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457209" y="197376"/>
            <a:ext cx="548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800">
                <a:solidFill>
                  <a:srgbClr val="0B2E34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800">
              <a:solidFill>
                <a:srgbClr val="0B2E3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214350" y="573675"/>
            <a:ext cx="5282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00">
                <a:solidFill>
                  <a:srgbClr val="FF632B"/>
                </a:solidFill>
                <a:latin typeface="Outfit"/>
                <a:ea typeface="Outfit"/>
                <a:cs typeface="Outfit"/>
                <a:sym typeface="Outfit"/>
              </a:rPr>
              <a:t>Dos nivells de titulació</a:t>
            </a:r>
            <a:endParaRPr sz="1200">
              <a:solidFill>
                <a:srgbClr val="FF632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135" name="Google Shape;135;p21"/>
          <p:cNvGraphicFramePr/>
          <p:nvPr/>
        </p:nvGraphicFramePr>
        <p:xfrm>
          <a:off x="853775" y="173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{A7280249-5B95-4148-820A-45C8FD705D22}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Títol</a:t>
                      </a:r>
                      <a:endParaRPr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ca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Títol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4D4D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Cos del text de la taula cos del text de la taula cos del text de la taula</a:t>
                      </a:r>
                      <a:endParaRPr>
                        <a:solidFill>
                          <a:srgbClr val="4D4D4D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4D4D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Cos del text de la taula</a:t>
                      </a:r>
                      <a:endParaRPr>
                        <a:solidFill>
                          <a:srgbClr val="4D4D4D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rtl="0" algn="just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ca">
                          <a:solidFill>
                            <a:srgbClr val="4D4D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Cos del text de la taula</a:t>
                      </a:r>
                      <a:endParaRPr>
                        <a:solidFill>
                          <a:srgbClr val="4D4D4D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ca">
                          <a:solidFill>
                            <a:srgbClr val="4D4D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Cos del text de la taula</a:t>
                      </a:r>
                      <a:endParaRPr>
                        <a:solidFill>
                          <a:srgbClr val="4D4D4D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rtl="0" algn="just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ca">
                          <a:solidFill>
                            <a:srgbClr val="4D4D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Cos del text de la taula</a:t>
                      </a:r>
                      <a:endParaRPr>
                        <a:solidFill>
                          <a:srgbClr val="4D4D4D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ca">
                          <a:solidFill>
                            <a:srgbClr val="4D4D4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Cos del text de la taula cos del text de la taula cos del text de la taula</a:t>
                      </a:r>
                      <a:endParaRPr>
                        <a:solidFill>
                          <a:srgbClr val="4D4D4D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771095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2382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E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3863" y="190500"/>
            <a:ext cx="885825" cy="56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/>
          <p:nvPr/>
        </p:nvSpPr>
        <p:spPr>
          <a:xfrm>
            <a:off x="214330" y="809625"/>
            <a:ext cx="7983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7500"/>
              <a:buFont typeface="Outfit"/>
              <a:buNone/>
            </a:pPr>
            <a:r>
              <a:rPr b="0" i="0" lang="ca" sz="7500" u="none" cap="none" strike="noStrike">
                <a:solidFill>
                  <a:srgbClr val="0A292D"/>
                </a:solidFill>
                <a:latin typeface="Outfit"/>
                <a:ea typeface="Outfit"/>
                <a:cs typeface="Outfit"/>
                <a:sym typeface="Outfit"/>
              </a:rPr>
              <a:t>Moltes gràcies!</a:t>
            </a:r>
            <a:endParaRPr b="0" i="0" sz="7500" u="none" cap="none" strike="noStrike">
              <a:solidFill>
                <a:srgbClr val="0A29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214330" y="4814900"/>
            <a:ext cx="1247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somenergia.coop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>
            <a:hlinkClick r:id="rId6"/>
          </p:cNvPr>
          <p:cNvSpPr/>
          <p:nvPr/>
        </p:nvSpPr>
        <p:spPr>
          <a:xfrm>
            <a:off x="214325" y="4814900"/>
            <a:ext cx="10557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2428875" y="4814900"/>
            <a:ext cx="1654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info@somenergia.coop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8639175" y="4814888"/>
            <a:ext cx="2905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722"/>
              </a:lnSpc>
              <a:spcBef>
                <a:spcPts val="0"/>
              </a:spcBef>
              <a:spcAft>
                <a:spcPts val="0"/>
              </a:spcAft>
              <a:buClr>
                <a:srgbClr val="0B2E34"/>
              </a:buClr>
              <a:buSzPts val="900"/>
              <a:buFont typeface="Outfit Medium"/>
              <a:buNone/>
            </a:pPr>
            <a:r>
              <a:rPr b="0" i="0" lang="ca" sz="900" u="none" cap="none" strike="noStrike">
                <a:solidFill>
                  <a:srgbClr val="0B2E34"/>
                </a:solidFill>
                <a:latin typeface="Outfit Medium"/>
                <a:ea typeface="Outfit Medium"/>
                <a:cs typeface="Outfit Medium"/>
                <a:sym typeface="Outfit Medium"/>
              </a:rPr>
              <a:t>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