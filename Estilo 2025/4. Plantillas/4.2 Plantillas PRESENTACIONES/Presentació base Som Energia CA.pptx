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Outfit"/>
      <p:regular r:id="rId23"/>
      <p:bold r:id="rId24"/>
    </p:embeddedFont>
    <p:embeddedFont>
      <p:font typeface="Outfit Medium"/>
      <p:regular r:id="rId25"/>
      <p:bold r:id="rId26"/>
    </p:embeddedFont>
    <p:embeddedFont>
      <p:font typeface="Outfi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56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227">
          <p15:clr>
            <a:srgbClr val="9AA0A6"/>
          </p15:clr>
        </p15:guide>
        <p15:guide id="4" orient="horz" pos="2778">
          <p15:clr>
            <a:srgbClr val="9AA0A6"/>
          </p15:clr>
        </p15:guide>
        <p15:guide id="5" orient="horz" pos="751">
          <p15:clr>
            <a:srgbClr val="9AA0A6"/>
          </p15:clr>
        </p15:guide>
        <p15:guide id="6" pos="44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56"/>
        <p:guide pos="227"/>
        <p:guide pos="227" orient="horz"/>
        <p:guide pos="2778" orient="horz"/>
        <p:guide pos="751" orient="horz"/>
        <p:guide pos="447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Outfit-bold.fntdata"/><Relationship Id="rId23" Type="http://schemas.openxmlformats.org/officeDocument/2006/relationships/font" Target="fonts/Outfi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Medium-bold.fntdata"/><Relationship Id="rId25" Type="http://schemas.openxmlformats.org/officeDocument/2006/relationships/font" Target="fonts/OutfitMedium-regular.fntdata"/><Relationship Id="rId28" Type="http://schemas.openxmlformats.org/officeDocument/2006/relationships/font" Target="fonts/OutfitSemiBold-bold.fntdata"/><Relationship Id="rId27" Type="http://schemas.openxmlformats.org/officeDocument/2006/relationships/font" Target="fonts/Outfi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d44300c64_0_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3d44300c64_0_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1" name="Google Shape;61;g33d44300c64_0_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d44300c64_0_1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3d44300c64_0_1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4" name="Google Shape;74;g33d44300c64_0_1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d44300c64_0_21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3d44300c64_0_21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7" name="Google Shape;107;g33d44300c64_0_21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d44300c64_0_22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3d44300c64_0_22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9" name="Google Shape;119;g33d44300c64_0_22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d44300c64_0_24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3d44300c64_0_24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5" name="Google Shape;135;g33d44300c64_0_24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d44300c64_0_31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3d44300c64_0_31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5" name="Google Shape;205;g33d44300c64_0_31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d44300c64_0_35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3d44300c64_0_35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48" name="Google Shape;248;g33d44300c64_0_35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d44300c64_0_37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3d44300c64_0_37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64" name="Google Shape;264;g33d44300c64_0_37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d44300c64_0_40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3d44300c64_0_40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95" name="Google Shape;295;g33d44300c64_0_40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3d44300c64_0_41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3d44300c64_0_41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13" name="Google Shape;313;g33d44300c64_0_41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d44300c64_0_4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3d44300c64_0_4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55" name="Google Shape;355;g33d44300c64_0_4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d44300c64_0_6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3d44300c64_0_6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72" name="Google Shape;372;g33d44300c64_0_6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3d44300c64_0_8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3d44300c64_0_8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93" name="Google Shape;393;g33d44300c64_0_8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3d44300c64_0_10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3d44300c64_0_10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12" name="Google Shape;412;g33d44300c64_0_10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3d44300c64_0_11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33d44300c64_0_11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31" name="Google Shape;431;g33d44300c64_0_11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3d44300c64_0_19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3d44300c64_0_19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12" name="Google Shape;512;g33d44300c64_0_19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d44300c64_0_20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3d44300c64_0_20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20" name="Google Shape;520;g33d44300c64_0_20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hyperlink" Target="https://somenergia.coop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81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3.png"/><Relationship Id="rId22" Type="http://schemas.openxmlformats.org/officeDocument/2006/relationships/image" Target="../media/image33.png"/><Relationship Id="rId21" Type="http://schemas.openxmlformats.org/officeDocument/2006/relationships/image" Target="../media/image29.png"/><Relationship Id="rId24" Type="http://schemas.openxmlformats.org/officeDocument/2006/relationships/image" Target="../media/image40.png"/><Relationship Id="rId23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26" Type="http://schemas.openxmlformats.org/officeDocument/2006/relationships/image" Target="../media/image41.png"/><Relationship Id="rId25" Type="http://schemas.openxmlformats.org/officeDocument/2006/relationships/image" Target="../media/image32.png"/><Relationship Id="rId28" Type="http://schemas.openxmlformats.org/officeDocument/2006/relationships/image" Target="../media/image44.png"/><Relationship Id="rId27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29" Type="http://schemas.openxmlformats.org/officeDocument/2006/relationships/image" Target="../media/image53.png"/><Relationship Id="rId7" Type="http://schemas.openxmlformats.org/officeDocument/2006/relationships/image" Target="../media/image5.png"/><Relationship Id="rId8" Type="http://schemas.openxmlformats.org/officeDocument/2006/relationships/image" Target="../media/image15.png"/><Relationship Id="rId30" Type="http://schemas.openxmlformats.org/officeDocument/2006/relationships/image" Target="../media/image52.png"/><Relationship Id="rId11" Type="http://schemas.openxmlformats.org/officeDocument/2006/relationships/image" Target="../media/image34.png"/><Relationship Id="rId10" Type="http://schemas.openxmlformats.org/officeDocument/2006/relationships/image" Target="../media/image21.png"/><Relationship Id="rId13" Type="http://schemas.openxmlformats.org/officeDocument/2006/relationships/image" Target="../media/image26.png"/><Relationship Id="rId12" Type="http://schemas.openxmlformats.org/officeDocument/2006/relationships/image" Target="../media/image37.png"/><Relationship Id="rId15" Type="http://schemas.openxmlformats.org/officeDocument/2006/relationships/image" Target="../media/image30.png"/><Relationship Id="rId14" Type="http://schemas.openxmlformats.org/officeDocument/2006/relationships/image" Target="../media/image28.png"/><Relationship Id="rId17" Type="http://schemas.openxmlformats.org/officeDocument/2006/relationships/image" Target="../media/image31.png"/><Relationship Id="rId16" Type="http://schemas.openxmlformats.org/officeDocument/2006/relationships/image" Target="../media/image25.png"/><Relationship Id="rId19" Type="http://schemas.openxmlformats.org/officeDocument/2006/relationships/image" Target="../media/image35.png"/><Relationship Id="rId18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51.png"/><Relationship Id="rId5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1.png"/><Relationship Id="rId4" Type="http://schemas.openxmlformats.org/officeDocument/2006/relationships/image" Target="../media/image47.png"/><Relationship Id="rId5" Type="http://schemas.openxmlformats.org/officeDocument/2006/relationships/image" Target="../media/image8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4.png"/><Relationship Id="rId6" Type="http://schemas.openxmlformats.org/officeDocument/2006/relationships/image" Target="../media/image83.png"/><Relationship Id="rId7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56.png"/><Relationship Id="rId5" Type="http://schemas.openxmlformats.org/officeDocument/2006/relationships/image" Target="../media/image58.png"/><Relationship Id="rId6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6.png"/><Relationship Id="rId4" Type="http://schemas.openxmlformats.org/officeDocument/2006/relationships/image" Target="../media/image17.png"/><Relationship Id="rId5" Type="http://schemas.openxmlformats.org/officeDocument/2006/relationships/image" Target="../media/image57.png"/><Relationship Id="rId6" Type="http://schemas.openxmlformats.org/officeDocument/2006/relationships/hyperlink" Target="https://autoproduccio.somenergia.coop" TargetMode="External"/><Relationship Id="rId7" Type="http://schemas.openxmlformats.org/officeDocument/2006/relationships/image" Target="../media/image59.png"/><Relationship Id="rId8" Type="http://schemas.openxmlformats.org/officeDocument/2006/relationships/hyperlink" Target="https://autoproduccio.somenergia.coop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17.png"/><Relationship Id="rId6" Type="http://schemas.openxmlformats.org/officeDocument/2006/relationships/hyperlink" Target="https://somcomunitats.coop" TargetMode="External"/><Relationship Id="rId7" Type="http://schemas.openxmlformats.org/officeDocument/2006/relationships/image" Target="../media/image67.png"/><Relationship Id="rId8" Type="http://schemas.openxmlformats.org/officeDocument/2006/relationships/hyperlink" Target="https://somcomunitats.coop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Relationship Id="rId5" Type="http://schemas.openxmlformats.org/officeDocument/2006/relationships/image" Target="../media/image17.png"/><Relationship Id="rId6" Type="http://schemas.openxmlformats.org/officeDocument/2006/relationships/image" Target="../media/image8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73.png"/><Relationship Id="rId5" Type="http://schemas.openxmlformats.org/officeDocument/2006/relationships/image" Target="../media/image7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2.png"/><Relationship Id="rId4" Type="http://schemas.openxmlformats.org/officeDocument/2006/relationships/image" Target="../media/image70.png"/><Relationship Id="rId5" Type="http://schemas.openxmlformats.org/officeDocument/2006/relationships/image" Target="../media/image8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hyperlink" Target="https://somenergia.co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4C2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0439" cy="4715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474" y="2714625"/>
            <a:ext cx="443386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5582724" cy="4138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3863" y="190500"/>
            <a:ext cx="885825" cy="56933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214328" y="695325"/>
            <a:ext cx="875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632B"/>
              </a:buClr>
              <a:buSzPts val="7500"/>
              <a:buFont typeface="Outfit"/>
              <a:buNone/>
            </a:pPr>
            <a:r>
              <a:rPr b="0" i="0" lang="ca" sz="7500" u="none" cap="none" strike="noStrike">
                <a:solidFill>
                  <a:srgbClr val="FF632B"/>
                </a:solidFill>
                <a:latin typeface="Outfit"/>
                <a:ea typeface="Outfit"/>
                <a:cs typeface="Outfit"/>
                <a:sym typeface="Outfit"/>
              </a:rPr>
              <a:t>Això no va de llum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>
            <a:hlinkClick r:id="rId7"/>
          </p:cNvPr>
          <p:cNvSpPr/>
          <p:nvPr/>
        </p:nvSpPr>
        <p:spPr>
          <a:xfrm>
            <a:off x="214325" y="4715850"/>
            <a:ext cx="1415400" cy="24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214335" y="4814900"/>
            <a:ext cx="1564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somenergia.coop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28875" y="4814900"/>
            <a:ext cx="165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24 / 06 /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DB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6863" y="2328863"/>
            <a:ext cx="4687137" cy="2814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8" y="2142216"/>
            <a:ext cx="4443413" cy="2702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9788" y="1738313"/>
            <a:ext cx="3224213" cy="333851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338138" y="2142216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38138" y="2630184"/>
            <a:ext cx="8423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Qui som</a:t>
            </a:r>
            <a:b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537662" y="2142216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537662" y="2630184"/>
            <a:ext cx="5667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Propòsit</a:t>
            </a:r>
            <a:b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737184" y="2142216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737184" y="2630184"/>
            <a:ext cx="7096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D’on venim</a:t>
            </a:r>
            <a:b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936709" y="2142216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936709" y="2630184"/>
            <a:ext cx="628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 som</a:t>
            </a:r>
            <a:b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38138" y="3106435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38138" y="3594404"/>
            <a:ext cx="5857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Què fem</a:t>
            </a:r>
            <a:b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537662" y="3106435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537662" y="3594404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Producció</a:t>
            </a:r>
            <a:b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737184" y="3106435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737184" y="3594404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Producció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pròpia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936709" y="3106435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936709" y="3594404"/>
            <a:ext cx="6619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Auto-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producció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38138" y="4070653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38138" y="4558621"/>
            <a:ext cx="847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Comunitats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Energètiques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537662" y="4070653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537662" y="4558621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Altres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activitats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2737184" y="4070653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11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737184" y="4558621"/>
            <a:ext cx="738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 ens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organitzem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936709" y="4142090"/>
            <a:ext cx="84233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9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b="0" i="0" lang="ca" sz="3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12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936709" y="4630059"/>
            <a:ext cx="833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Grups Locals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214349" y="261950"/>
            <a:ext cx="199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Índex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052763"/>
            <a:ext cx="4205288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3" y="733425"/>
            <a:ext cx="4286250" cy="419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214350" y="261950"/>
            <a:ext cx="3005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Qui som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24400" y="3052775"/>
            <a:ext cx="43617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900"/>
              <a:buFont typeface="Outfit"/>
              <a:buNone/>
            </a:pPr>
            <a:r>
              <a:rPr i="0" lang="ca" sz="2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Som Energia és una cooperativa d’energia verda i sense ànim de lucre </a:t>
            </a:r>
            <a:endParaRPr i="0" sz="2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724400" y="4281488"/>
            <a:ext cx="4229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La nostra activitat se centra en la producció i comercialització d’electricitat renovable. Treballem  per impulsar un canvi del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model energètic actual per aconseguir un model basat en fonts 100% renovables i en mans de la ciutadania.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DFF8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1099" y="1281153"/>
            <a:ext cx="2042901" cy="386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0"/>
            <a:ext cx="5538788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3" y="3429000"/>
            <a:ext cx="8715375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590550" y="4157663"/>
            <a:ext cx="156686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87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000"/>
              <a:buFont typeface="Outfit SemiBold"/>
              <a:buNone/>
            </a:pPr>
            <a:r>
              <a:rPr b="0" i="0" lang="ca" sz="1000" u="none" cap="none" strike="noStrike">
                <a:solidFill>
                  <a:srgbClr val="0A292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Impulsar</a:t>
            </a: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 un model energètic renovable, eficient i en mans de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la ciutadania.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205038" y="4157663"/>
            <a:ext cx="156686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87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000"/>
              <a:buFont typeface="Outfit SemiBold"/>
              <a:buNone/>
            </a:pPr>
            <a:r>
              <a:rPr b="0" i="0" lang="ca" sz="1000" u="none" cap="none" strike="noStrike">
                <a:solidFill>
                  <a:srgbClr val="0A292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Afavorir</a:t>
            </a: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 el creixement d’una economia més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social i solidària.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3819525" y="4157663"/>
            <a:ext cx="15668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87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000"/>
              <a:buFont typeface="Outfit SemiBold"/>
              <a:buNone/>
            </a:pPr>
            <a:r>
              <a:rPr b="0" i="0" lang="ca" sz="1000" u="none" cap="none" strike="noStrike">
                <a:solidFill>
                  <a:srgbClr val="0A292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Trencar</a:t>
            </a: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 l’oligopoli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energètic existent.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434013" y="4157663"/>
            <a:ext cx="15668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87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000"/>
              <a:buFont typeface="Outfit SemiBold"/>
              <a:buNone/>
            </a:pPr>
            <a:r>
              <a:rPr b="0" i="0" lang="ca" sz="1000" u="none" cap="none" strike="noStrike">
                <a:solidFill>
                  <a:srgbClr val="0A292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Participar</a:t>
            </a: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 d’un moviment social transformador.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048500" y="4157663"/>
            <a:ext cx="156686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87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000"/>
              <a:buFont typeface="Outfit SemiBold"/>
              <a:buNone/>
            </a:pPr>
            <a:r>
              <a:rPr b="0" i="0" lang="ca" sz="1000" u="none" cap="none" strike="noStrike">
                <a:solidFill>
                  <a:srgbClr val="0A292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Donar</a:t>
            </a:r>
            <a:r>
              <a:rPr b="0" i="0" lang="ca" sz="10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 una informació transparent i un tracte directe.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14346" y="261950"/>
            <a:ext cx="2796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Propòsit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64456"/>
            <a:ext cx="9144000" cy="7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21844"/>
            <a:ext cx="9144000" cy="7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276350"/>
            <a:ext cx="77057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248025"/>
            <a:ext cx="76581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" y="1571625"/>
            <a:ext cx="7144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76900" y="3524250"/>
            <a:ext cx="7144" cy="89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8625" y="3524250"/>
            <a:ext cx="7144" cy="1100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33738" y="1571625"/>
            <a:ext cx="7144" cy="1204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3088" y="1571625"/>
            <a:ext cx="7144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81225" y="3524250"/>
            <a:ext cx="7144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48375" y="1571625"/>
            <a:ext cx="7144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43438" y="1571625"/>
            <a:ext cx="7144" cy="795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29063" y="3524250"/>
            <a:ext cx="7144" cy="795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58075" y="1571625"/>
            <a:ext cx="7144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58075" y="3524250"/>
            <a:ext cx="7144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3875" y="1857375"/>
            <a:ext cx="995363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72150" y="3810000"/>
            <a:ext cx="10287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772150" y="4171950"/>
            <a:ext cx="113823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23875" y="3810000"/>
            <a:ext cx="1157288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23875" y="4276725"/>
            <a:ext cx="985838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328988" y="1857375"/>
            <a:ext cx="7239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28988" y="2195513"/>
            <a:ext cx="671513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328988" y="2533650"/>
            <a:ext cx="709613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38688" y="2124075"/>
            <a:ext cx="81438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1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024313" y="4076700"/>
            <a:ext cx="1166813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1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553325" y="2043113"/>
            <a:ext cx="10572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1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938338" y="1804988"/>
            <a:ext cx="79533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1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276475" y="3757613"/>
            <a:ext cx="111918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1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143625" y="1804988"/>
            <a:ext cx="7239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1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738688" y="1890713"/>
            <a:ext cx="70008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1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024313" y="3843338"/>
            <a:ext cx="70008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1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553325" y="1890713"/>
            <a:ext cx="9810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1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553325" y="3900488"/>
            <a:ext cx="1128713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214343" y="261950"/>
            <a:ext cx="3253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D’on venim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45319" y="1314450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069783" y="1314450"/>
            <a:ext cx="2333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468054" y="1314450"/>
            <a:ext cx="2524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875847" y="1314450"/>
            <a:ext cx="2524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278880" y="1314450"/>
            <a:ext cx="2619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691438" y="1314450"/>
            <a:ext cx="2524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50082" y="3286125"/>
            <a:ext cx="2571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400300" y="3286125"/>
            <a:ext cx="2524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145757" y="3286125"/>
            <a:ext cx="2571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893594" y="3286125"/>
            <a:ext cx="2571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627144" y="3286125"/>
            <a:ext cx="285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23875" y="1909775"/>
            <a:ext cx="1254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Assamblea constituent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11 de novembre de 2010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72150" y="3862400"/>
            <a:ext cx="1376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Celebrem els 100.000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contractes d’electricitat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72150" y="4224350"/>
            <a:ext cx="16074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Organització i governança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del Consell Rector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23875" y="3862400"/>
            <a:ext cx="154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Inici del procés participatiu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 reflexió estratègica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 organitzativa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23875" y="4329125"/>
            <a:ext cx="154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Entra en funcionament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 primera planta de la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Generació kWh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329006" y="1909775"/>
            <a:ext cx="1119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Primera trobada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 grups locals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329009" y="2247900"/>
            <a:ext cx="12048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Primera escola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 Som Energia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329006" y="2586050"/>
            <a:ext cx="1119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Primera coberta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fotovoltaica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4738705" y="2176475"/>
            <a:ext cx="1176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Posem en marxa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 planta de biogàs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024328" y="4129100"/>
            <a:ext cx="1486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Primera compra col·lectiva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d’autoproducció domèstica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553325" y="2095500"/>
            <a:ext cx="1376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Adquirim una central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hidroelèctrica en 2 hores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938354" y="1805000"/>
            <a:ext cx="1062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Festa “Fes el salt!”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Celebrem l’inici de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la comercialització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276475" y="3757625"/>
            <a:ext cx="1576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Neix el Germinador Social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El concurs d’innovació per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 la transició energètica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143625" y="1805000"/>
            <a:ext cx="1204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Sant Celoni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Primer municipi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 contractar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electricitat verda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738707" y="1890725"/>
            <a:ext cx="1138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Som 10.000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persones sòcies!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024337" y="3843350"/>
            <a:ext cx="1376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944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Som 50.000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persones sòcies!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553325" y="1890725"/>
            <a:ext cx="13764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Neix la Generació kWh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553325" y="3900500"/>
            <a:ext cx="14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8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10è aniversari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4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de Som Energia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871538"/>
            <a:ext cx="428625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3438" y="871538"/>
            <a:ext cx="428625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214345" y="261950"/>
            <a:ext cx="3084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Com som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79636" y="4429125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100% – 50%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79636" y="4567238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49% – 10%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79636" y="4705350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9% – 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365461" y="4429125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4,9% – 3%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1365461" y="4567238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2,9% – 1%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365461" y="4705350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0,9% – 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786313" y="1157288"/>
            <a:ext cx="5476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629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1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Dades a data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8234363" y="1157288"/>
            <a:ext cx="55245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1629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1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01 / 02 / 2023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786313" y="1404938"/>
            <a:ext cx="15311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Persones sòcies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658100" y="1404938"/>
            <a:ext cx="11271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83.679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786313" y="1647825"/>
            <a:ext cx="15311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Contractes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7658100" y="1647825"/>
            <a:ext cx="11271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122.480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786313" y="2105025"/>
            <a:ext cx="15382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629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1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Percentatges per tipologia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6410325" y="2105025"/>
            <a:ext cx="1131924" cy="90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1629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1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Persones sòcies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7653338" y="2105025"/>
            <a:ext cx="1131924" cy="90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1629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1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Contractes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786313" y="2352675"/>
            <a:ext cx="1531119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Particulars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415087" y="2352675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94,18%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7658100" y="2352675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786313" y="2504722"/>
            <a:ext cx="1531119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Empreses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6415087" y="2504722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3,07%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658100" y="2504722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4,28%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786313" y="2656768"/>
            <a:ext cx="1531119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Associacions i fundacions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6415087" y="2656768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0,79%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658100" y="2656768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1,58%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786313" y="2808815"/>
            <a:ext cx="1531119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Cooperatives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415087" y="2808815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0,44%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658100" y="2808815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0,42%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786313" y="2960861"/>
            <a:ext cx="1531119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Administració pública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6415087" y="2960861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0,16%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7658100" y="2960861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0,41%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786313" y="3112908"/>
            <a:ext cx="1531119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Altres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415087" y="3112908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1,36%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658100" y="3112908"/>
            <a:ext cx="112716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3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2,86%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4C27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2231" y="0"/>
            <a:ext cx="732177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3" y="1009650"/>
            <a:ext cx="8715375" cy="226218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/>
          <p:nvPr/>
        </p:nvSpPr>
        <p:spPr>
          <a:xfrm>
            <a:off x="214343" y="261950"/>
            <a:ext cx="3048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Què fem?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309563" y="2462213"/>
            <a:ext cx="26431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Producció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309563" y="2690813"/>
            <a:ext cx="26431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Produïm energia elèctrica en instal·lacions de generació a partir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de fonts renovables (sol, vent, biogàs, biomassa, etc.), finançades amb aportacions econòmiques voluntàries dels socis.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3262313" y="2462213"/>
            <a:ext cx="26431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Transport-Distribució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3262313" y="2690813"/>
            <a:ext cx="26431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La xarxa de transport (Alta tensió, propietat de REE) i de la</a:t>
            </a:r>
            <a:br>
              <a:rPr lang="ca" sz="7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xarxa</a:t>
            </a:r>
            <a:r>
              <a:rPr lang="ca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de distribució (Baixa tensió, propietat de les empreses distribuïdores) formen part del mercat elèctric regulat on no</a:t>
            </a:r>
            <a:br>
              <a:rPr lang="ca" sz="7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hi actua la cooperativ</a:t>
            </a: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215063" y="2462213"/>
            <a:ext cx="26431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Comercialització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215063" y="2690813"/>
            <a:ext cx="26431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Gestionem, comprem i facturem l’electricitat que usen els socis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i sòcies que han volgut contractar-nos com a comercialitzadora d’electricitat verda, segons els certificats de garantia d’origen (CNMC).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F0F3E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928938"/>
            <a:ext cx="87153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823913"/>
            <a:ext cx="8715375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1172196"/>
            <a:ext cx="7391400" cy="1266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3648075"/>
            <a:ext cx="801052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/>
          <p:nvPr/>
        </p:nvSpPr>
        <p:spPr>
          <a:xfrm>
            <a:off x="214330" y="261950"/>
            <a:ext cx="2835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Comercialització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66775" y="1971675"/>
            <a:ext cx="15859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8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Àmbit domèstic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866775" y="2209800"/>
            <a:ext cx="1585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7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Baixa tensió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fins a 15 kW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2809875" y="1990725"/>
            <a:ext cx="15859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Empreses i indústria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809875" y="2209800"/>
            <a:ext cx="1585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7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Baixa tensió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més de 15 kW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752975" y="1971675"/>
            <a:ext cx="15859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8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Alta tensió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752975" y="2209800"/>
            <a:ext cx="1585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7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Tensió d’accés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entre 1 kV i 30 kV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6696075" y="1971675"/>
            <a:ext cx="15859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8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Punts càrrega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696075" y="2209800"/>
            <a:ext cx="1585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7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Baixa tensió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més de 15 kW i alta tensió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542925" y="3162300"/>
            <a:ext cx="3660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8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1400"/>
              <a:buFont typeface="Outfit"/>
              <a:buNone/>
            </a:pPr>
            <a:r>
              <a:rPr b="0" i="0" lang="ca" sz="14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Tarifes d’electricitat 100% renovables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542925" y="4105275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Preus Justos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542925" y="4267200"/>
            <a:ext cx="14811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Els socis i sòcies participen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en la definició de les tarifes, ratificades en assamblea.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2181225" y="4105275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Sense sobrecostos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2181225" y="4267200"/>
            <a:ext cx="14811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No cal pagar més per utilitzar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energia verda certificada.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3819525" y="4105275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Sense lletra petita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3819525" y="4267200"/>
            <a:ext cx="14811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No hi ha permanència,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ni ofertes especials.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457825" y="4105275"/>
            <a:ext cx="14811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722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Transparència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i responsabilitat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457825" y="4381500"/>
            <a:ext cx="14811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Sempre al servei de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les persones sòcies.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7096125" y="4105275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F0F3EC"/>
                </a:solidFill>
                <a:latin typeface="Outfit Medium"/>
                <a:ea typeface="Outfit Medium"/>
                <a:cs typeface="Outfit Medium"/>
                <a:sym typeface="Outfit Medium"/>
              </a:rPr>
              <a:t>Sense ànim de lucre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096125" y="4267200"/>
            <a:ext cx="14811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Els beneficis es reinverteixen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en la cooperativa.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7" name="Google Shape;2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823913"/>
            <a:ext cx="8715375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8" name="Google Shape;2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/>
          <p:nvPr/>
        </p:nvSpPr>
        <p:spPr>
          <a:xfrm>
            <a:off x="357202" y="966800"/>
            <a:ext cx="48072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700"/>
              <a:buFont typeface="Outfit"/>
              <a:buNone/>
            </a:pPr>
            <a:r>
              <a:rPr b="0" i="0" lang="ca" sz="1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Impulsem projectes de generació d’energia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 partir de fonts renovables per aconseguir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1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un model renovable, sostenible i participat.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481013" y="3143250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Autoproducció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481013" y="3305175"/>
            <a:ext cx="14811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Els socis i sòcies participen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 la definició de les tarifes, ratificades en assamblea.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2281238" y="3143250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Capital Social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2281238" y="3305175"/>
            <a:ext cx="14811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No cal pagar més per utilitzar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energia verda certificada.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481013" y="4333875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Generation kWh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481013" y="4495800"/>
            <a:ext cx="14811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No hi ha permanència,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ni ofertes especials.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2281238" y="4333875"/>
            <a:ext cx="1481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Comunitats Energètiques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2281238" y="4495800"/>
            <a:ext cx="14811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Sempre al servei de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les persones sòcies.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214347" y="261950"/>
            <a:ext cx="3386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Producció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5" name="Google Shape;3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871538"/>
            <a:ext cx="428625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3438" y="2185988"/>
            <a:ext cx="42862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3438" y="871538"/>
            <a:ext cx="2071688" cy="1195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9" name="Google Shape;31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871538"/>
            <a:ext cx="2071688" cy="119538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/>
          <p:nvPr/>
        </p:nvSpPr>
        <p:spPr>
          <a:xfrm>
            <a:off x="214331" y="261950"/>
            <a:ext cx="4467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Producció pròpia (2022)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509588" y="4305300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Hidràulica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509588" y="4443413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Solar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509588" y="4581525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Eòlica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509588" y="4719638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Biogàs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374986" y="4305300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 tramitació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1374986" y="4443413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 funcionament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1374986" y="4581525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 construcció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4786313" y="2328863"/>
            <a:ext cx="2271713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Històric Producció Anual 2013-2022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962525" y="2824163"/>
            <a:ext cx="1531119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4962525" y="3186113"/>
            <a:ext cx="1531119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4962525" y="3548063"/>
            <a:ext cx="1531119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4962525" y="3910013"/>
            <a:ext cx="1531119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4962525" y="4271963"/>
            <a:ext cx="1531119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4962525" y="4633913"/>
            <a:ext cx="8096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5208747" y="4633913"/>
            <a:ext cx="19526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5564505" y="4633913"/>
            <a:ext cx="200025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5925027" y="4633913"/>
            <a:ext cx="19526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6280784" y="4633913"/>
            <a:ext cx="19526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6636544" y="4633913"/>
            <a:ext cx="185738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2017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6987541" y="4633913"/>
            <a:ext cx="19526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7343299" y="4633913"/>
            <a:ext cx="19526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2019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7699058" y="4633913"/>
            <a:ext cx="219075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2020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8078628" y="4633913"/>
            <a:ext cx="19526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2021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8434388" y="4633913"/>
            <a:ext cx="20955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2022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4700588" y="966788"/>
            <a:ext cx="19621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733"/>
              </a:lnSpc>
              <a:spcBef>
                <a:spcPts val="0"/>
              </a:spcBef>
              <a:spcAft>
                <a:spcPts val="0"/>
              </a:spcAft>
              <a:buClr>
                <a:srgbClr val="E2E8DE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E2E8DE"/>
                </a:solidFill>
                <a:latin typeface="Outfit"/>
                <a:ea typeface="Outfit"/>
                <a:cs typeface="Outfit"/>
                <a:sym typeface="Outfit"/>
              </a:rPr>
              <a:t>Plantes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4700588" y="1335882"/>
            <a:ext cx="1962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68719"/>
              </a:lnSpc>
              <a:spcBef>
                <a:spcPts val="0"/>
              </a:spcBef>
              <a:spcAft>
                <a:spcPts val="0"/>
              </a:spcAft>
              <a:buClr>
                <a:srgbClr val="E2E8DE"/>
              </a:buClr>
              <a:buSzPts val="2900"/>
              <a:buFont typeface="Outfit"/>
              <a:buNone/>
            </a:pPr>
            <a:r>
              <a:rPr b="0" i="0" lang="ca" sz="2900" u="none" cap="none" strike="noStrike">
                <a:solidFill>
                  <a:srgbClr val="E2E8DE"/>
                </a:solidFill>
                <a:latin typeface="Outfit"/>
                <a:ea typeface="Outfit"/>
                <a:cs typeface="Outfit"/>
                <a:sym typeface="Outfit"/>
              </a:rPr>
              <a:t>16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4681538" y="1909763"/>
            <a:ext cx="20002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E2E8DE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E2E8DE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6915150" y="966788"/>
            <a:ext cx="19621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733"/>
              </a:lnSpc>
              <a:spcBef>
                <a:spcPts val="0"/>
              </a:spcBef>
              <a:spcAft>
                <a:spcPts val="0"/>
              </a:spcAft>
              <a:buClr>
                <a:srgbClr val="E2E8DE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E2E8DE"/>
                </a:solidFill>
                <a:latin typeface="Outfit"/>
                <a:ea typeface="Outfit"/>
                <a:cs typeface="Outfit"/>
                <a:sym typeface="Outfit"/>
              </a:rPr>
              <a:t>Energia produïda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6915150" y="1335882"/>
            <a:ext cx="1962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68719"/>
              </a:lnSpc>
              <a:spcBef>
                <a:spcPts val="0"/>
              </a:spcBef>
              <a:spcAft>
                <a:spcPts val="0"/>
              </a:spcAft>
              <a:buClr>
                <a:srgbClr val="E2E8DE"/>
              </a:buClr>
              <a:buSzPts val="2900"/>
              <a:buFont typeface="Outfit"/>
              <a:buNone/>
            </a:pPr>
            <a:r>
              <a:rPr b="0" i="0" lang="ca" sz="2900" u="none" cap="none" strike="noStrike">
                <a:solidFill>
                  <a:srgbClr val="E2E8DE"/>
                </a:solidFill>
                <a:latin typeface="Outfit"/>
                <a:ea typeface="Outfit"/>
                <a:cs typeface="Outfit"/>
                <a:sym typeface="Outfit"/>
              </a:rPr>
              <a:t>23 </a:t>
            </a:r>
            <a:r>
              <a:rPr b="0" i="0" lang="ca" sz="1100" u="none" cap="none" strike="noStrike">
                <a:solidFill>
                  <a:srgbClr val="E2E8DE"/>
                </a:solidFill>
                <a:latin typeface="Outfit"/>
                <a:ea typeface="Outfit"/>
                <a:cs typeface="Outfit"/>
                <a:sym typeface="Outfit"/>
              </a:rPr>
              <a:t>GWh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6896100" y="1909763"/>
            <a:ext cx="20002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E2E8DE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E2E8DE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4C27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7" name="Google Shape;3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823913"/>
            <a:ext cx="8715375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9" name="Google Shape;35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9213" y="1157288"/>
            <a:ext cx="32575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25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9213" y="4476750"/>
            <a:ext cx="1395413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/>
          <p:nvPr/>
        </p:nvSpPr>
        <p:spPr>
          <a:xfrm>
            <a:off x="214333" y="261950"/>
            <a:ext cx="4356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Autoproducció (2022)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5129213" y="1609725"/>
            <a:ext cx="148113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6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9.378 contractes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amb autoproducció.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6824663" y="1609725"/>
            <a:ext cx="1481138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6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1.182 persones i entitats sòcies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han instal·lat plaques a través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d’una compra col·lectiva.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5129213" y="2752725"/>
            <a:ext cx="1481138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15 compres col·lectives d’instal·lacions fotovoltaqiues engegades.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6824663" y="2752725"/>
            <a:ext cx="148113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6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Medium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13 GWh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d’energia produïda.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5200650" y="4545807"/>
            <a:ext cx="1133475" cy="5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autoproduccio.somenergia.coop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>
            <a:hlinkClick r:id="rId8"/>
          </p:cNvPr>
          <p:cNvSpPr/>
          <p:nvPr/>
        </p:nvSpPr>
        <p:spPr>
          <a:xfrm>
            <a:off x="5214938" y="4545807"/>
            <a:ext cx="1100138" cy="523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F0F3E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4" name="Google Shape;3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3438" y="871538"/>
            <a:ext cx="42862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5" name="Google Shape;3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871538"/>
            <a:ext cx="42862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6" name="Google Shape;37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7" name="Google Shape;377;p2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7188" y="3467100"/>
            <a:ext cx="1000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/>
          <p:nvPr/>
        </p:nvSpPr>
        <p:spPr>
          <a:xfrm>
            <a:off x="214343" y="261950"/>
            <a:ext cx="1926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Impuls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4976813" y="2900363"/>
            <a:ext cx="3833813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Modelitzar Comunitats Energètiques</a:t>
            </a: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 al territori que permeti la seva rèplica.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976813" y="3114675"/>
            <a:ext cx="3833813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Crear les eines digitals </a:t>
            </a: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per a la creació i gestió de les Comunitats Energètiques.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4976813" y="3328988"/>
            <a:ext cx="3833813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Sensibilitzar i divulgar </a:t>
            </a: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sobre les Comunitats Energètiques.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4976813" y="3543300"/>
            <a:ext cx="3833813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7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Implementar proves pilot </a:t>
            </a: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de Comunitats Energètiques al territori.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4786335" y="1014425"/>
            <a:ext cx="1837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500"/>
              <a:buFont typeface="Outfit"/>
              <a:buNone/>
            </a:pPr>
            <a:r>
              <a:rPr b="0" i="0" lang="ca" sz="15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 ho fem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357204" y="1014425"/>
            <a:ext cx="2649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500"/>
              <a:buFont typeface="Outfit"/>
              <a:buNone/>
            </a:pPr>
            <a:r>
              <a:rPr b="0" i="0" lang="ca" sz="15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Comunitats Energètiques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357188" y="1448613"/>
            <a:ext cx="1962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6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"/>
              <a:buNone/>
            </a:pP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Fomentem el coneixement, la creació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i la rèplica de Comunitats Energètiques</a:t>
            </a:r>
            <a:br>
              <a:rPr b="0" i="0" lang="ca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8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 tot el territori des de l’economia social.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2093102" y="4119575"/>
            <a:ext cx="49578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70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Un projecte que compta amb l’aliança de 7 entitats i el suport i finançament de la Generalitat de Catalunya.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433388" y="3536157"/>
            <a:ext cx="728663" cy="5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somcomunitats.coop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>
            <a:hlinkClick r:id="rId8"/>
          </p:cNvPr>
          <p:cNvSpPr/>
          <p:nvPr/>
        </p:nvSpPr>
        <p:spPr>
          <a:xfrm>
            <a:off x="442913" y="3536157"/>
            <a:ext cx="704850" cy="523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6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DE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5" name="Google Shape;3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1566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3592" y="0"/>
            <a:ext cx="670040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7" name="Google Shape;39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313" y="1009650"/>
            <a:ext cx="8715375" cy="271938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/>
          <p:nvPr/>
        </p:nvSpPr>
        <p:spPr>
          <a:xfrm>
            <a:off x="214337" y="261950"/>
            <a:ext cx="3814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Altres activitats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357215" y="1152525"/>
            <a:ext cx="1766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500"/>
              <a:buFont typeface="Outfit"/>
              <a:buNone/>
            </a:pPr>
            <a:r>
              <a:rPr b="0" i="0" lang="ca" sz="15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Formació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/>
          <p:nvPr/>
        </p:nvSpPr>
        <p:spPr>
          <a:xfrm>
            <a:off x="357188" y="2862263"/>
            <a:ext cx="25788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Punt de trobada</a:t>
            </a: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 per a les persones sòcies de la cooperativa. L’Escola és una oportunitat per intercanviar idees, formar-nos i conèixer-nos millor mentre anem teixint la transició energètica transformadora.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428625" y="3464719"/>
            <a:ext cx="852488" cy="5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escola.somenergia.coop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3174206" y="2862263"/>
            <a:ext cx="25788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Espai obert</a:t>
            </a: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 a les persones sòcies de la cooperativa i a la societat en general, on compartir coneixement, fer xarxa</a:t>
            </a:r>
            <a:r>
              <a:rPr lang="ca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i formar-nos per construir conjuntament la base d’un nou model energètic.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3243263" y="3464719"/>
            <a:ext cx="1047750" cy="5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aulapopular.somenergia.coop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6276975" y="1162050"/>
            <a:ext cx="25338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500"/>
              <a:buFont typeface="Outfit"/>
              <a:buNone/>
            </a:pPr>
            <a:r>
              <a:rPr b="0" i="0" lang="ca" sz="15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Germinador Social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6276975" y="2871788"/>
            <a:ext cx="25338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800"/>
              <a:buFont typeface="Outfit SemiBold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Concurs</a:t>
            </a: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 compartit amb Coop57 creat per estimular la creació de models socials innovadors amb l’objectiu de promoure nous agents locals per a la transició energètica.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6353175" y="3364707"/>
            <a:ext cx="785813" cy="5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germinadorsocial.com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F0F3EC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F0F3E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4" name="Google Shape;4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5" name="Google Shape;4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" y="871538"/>
            <a:ext cx="8739188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8"/>
          <p:cNvSpPr/>
          <p:nvPr/>
        </p:nvSpPr>
        <p:spPr>
          <a:xfrm>
            <a:off x="214334" y="261950"/>
            <a:ext cx="427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Com ens organitzem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3824288" y="1128713"/>
            <a:ext cx="1481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Assamblea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3824288" y="1333500"/>
            <a:ext cx="14811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Òrgan suprem d’expressió màxima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de la voluntat col·lectiva.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3824288" y="2419350"/>
            <a:ext cx="1481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Consell Rector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3824288" y="2624138"/>
            <a:ext cx="148113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Òrgan de govern de la cooperativa.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1557338" y="4200525"/>
            <a:ext cx="1481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Base Societària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1557338" y="4405313"/>
            <a:ext cx="14811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Persones i entitats sòcies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repartides arreu del territori.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3824288" y="4200525"/>
            <a:ext cx="1481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Equip Tècnic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3752850" y="4405313"/>
            <a:ext cx="16240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Equip de persones que porta a terme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l’activitat empresarial de la cooperativa.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6091238" y="4200525"/>
            <a:ext cx="1481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Grups Locals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6019800" y="4405313"/>
            <a:ext cx="16240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00"/>
              <a:buFont typeface="Outfit"/>
              <a:buNone/>
            </a:pP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Persones sòcies organitzades</a:t>
            </a:r>
            <a:br>
              <a:rPr b="0" i="0" lang="ca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ca" sz="7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 grups arreu del territori.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3" name="Google Shape;4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871538"/>
            <a:ext cx="428625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3438" y="871538"/>
            <a:ext cx="428625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9"/>
          <p:cNvSpPr/>
          <p:nvPr/>
        </p:nvSpPr>
        <p:spPr>
          <a:xfrm>
            <a:off x="214334" y="261950"/>
            <a:ext cx="402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b="0" i="0" lang="ca" sz="23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Grups Locals (2021)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479636" y="4429125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Compra Col·lectiva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479636" y="4567238"/>
            <a:ext cx="766763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Comunitat Energètica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479636" y="4705350"/>
            <a:ext cx="738188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Nous Grups Locals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4786313" y="1157288"/>
            <a:ext cx="2771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Que impulsen una compra col·lectiva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7658100" y="1157288"/>
            <a:ext cx="11271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4786313" y="14620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Alacant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5586413" y="14620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Almeria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9"/>
          <p:cNvSpPr/>
          <p:nvPr/>
        </p:nvSpPr>
        <p:spPr>
          <a:xfrm>
            <a:off x="6386513" y="14620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Alt Penedès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7186613" y="14620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Anoia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7986713" y="14620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Bages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4786313" y="15954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Baix Llobregat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5586413" y="15954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Baix Montseny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/>
          <p:nvPr/>
        </p:nvSpPr>
        <p:spPr>
          <a:xfrm>
            <a:off x="6386513" y="15954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Baix Penedès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9"/>
          <p:cNvSpPr/>
          <p:nvPr/>
        </p:nvSpPr>
        <p:spPr>
          <a:xfrm>
            <a:off x="7186613" y="15954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Baix Vallès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7986713" y="15954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Barcelona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4786313" y="17287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Berguedà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/>
          <p:nvPr/>
        </p:nvSpPr>
        <p:spPr>
          <a:xfrm>
            <a:off x="5586413" y="17287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Castellar del Vallès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/>
          <p:nvPr/>
        </p:nvSpPr>
        <p:spPr>
          <a:xfrm>
            <a:off x="6386513" y="17287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Energia Gara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7186613" y="17287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Nafarroa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7986713" y="17287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Eivissa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786313" y="18621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Extremadura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5586413" y="18621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Garraf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6386513" y="18621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Girona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7186613" y="18621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Granada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7986713" y="18621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La Manchuela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4786313" y="19954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La Palma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5586413" y="19954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Lleida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6386513" y="19954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Los Alcores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7186613" y="19954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Madrid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7986713" y="19954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Málaga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4786313" y="21288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Mallorca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5586413" y="21288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Maresme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6386513" y="21288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Menorca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7186613" y="21288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Moianès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7986713" y="21288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Osona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4786313" y="22621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Ripollès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5586413" y="22621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Rubí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6386513" y="22621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Sabadell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7186613" y="22621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Sant Cugat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7986713" y="22621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Selva Marítima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4786313" y="23955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Sevilla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5586413" y="23955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Tenerife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6386513" y="23955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Terres de l’Ebre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7186613" y="23955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Terrassa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7986713" y="23955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València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4786313" y="25288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Zaragoza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5586413" y="25288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94,18%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6386513" y="25288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7186613" y="25288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7986713" y="25288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4786313" y="2890838"/>
            <a:ext cx="2771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Que impulsen una comunitat energètica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7658100" y="2890838"/>
            <a:ext cx="11271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4786313" y="31956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Barcelona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/>
          <p:nvPr/>
        </p:nvSpPr>
        <p:spPr>
          <a:xfrm>
            <a:off x="5586413" y="31956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Castelló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9"/>
          <p:cNvSpPr/>
          <p:nvPr/>
        </p:nvSpPr>
        <p:spPr>
          <a:xfrm>
            <a:off x="6386513" y="31956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Energia Gara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9"/>
          <p:cNvSpPr/>
          <p:nvPr/>
        </p:nvSpPr>
        <p:spPr>
          <a:xfrm>
            <a:off x="7186613" y="31956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Nafarroa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7986713" y="31956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La Palma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9"/>
          <p:cNvSpPr/>
          <p:nvPr/>
        </p:nvSpPr>
        <p:spPr>
          <a:xfrm>
            <a:off x="4786313" y="33289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Lleida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9"/>
          <p:cNvSpPr/>
          <p:nvPr/>
        </p:nvSpPr>
        <p:spPr>
          <a:xfrm>
            <a:off x="5586413" y="33289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Sabadell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6386513" y="33289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Sevilla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7186613" y="33289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Sierra de la Huelva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9"/>
          <p:cNvSpPr/>
          <p:nvPr/>
        </p:nvSpPr>
        <p:spPr>
          <a:xfrm>
            <a:off x="7986713" y="332898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4786313" y="3690938"/>
            <a:ext cx="2771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Nous grups locals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/>
          <p:nvPr/>
        </p:nvSpPr>
        <p:spPr>
          <a:xfrm>
            <a:off x="7658100" y="3690938"/>
            <a:ext cx="11271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4786313" y="39957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La Manchuela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5586413" y="39957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Moianès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6386513" y="39957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/>
          <p:nvPr/>
        </p:nvSpPr>
        <p:spPr>
          <a:xfrm>
            <a:off x="7186613" y="39957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9"/>
          <p:cNvSpPr/>
          <p:nvPr/>
        </p:nvSpPr>
        <p:spPr>
          <a:xfrm>
            <a:off x="7986713" y="3995738"/>
            <a:ext cx="823913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utfit"/>
              <a:buNone/>
            </a:pPr>
            <a:r>
              <a:rPr b="0" i="0" lang="ca" sz="6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90,45%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4786313" y="4357688"/>
            <a:ext cx="2771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Total de grups locals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/>
          <p:nvPr/>
        </p:nvSpPr>
        <p:spPr>
          <a:xfrm>
            <a:off x="7658100" y="4357688"/>
            <a:ext cx="11271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b="0" i="0" lang="ca" sz="11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57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9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4" name="Google Shape;5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5" name="Google Shape;5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771095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6" name="Google Shape;51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2382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2" name="Google Shape;5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3" name="Google Shape;52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4" name="Google Shape;52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3863" y="190500"/>
            <a:ext cx="885825" cy="569338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1"/>
          <p:cNvSpPr/>
          <p:nvPr/>
        </p:nvSpPr>
        <p:spPr>
          <a:xfrm>
            <a:off x="214330" y="809625"/>
            <a:ext cx="7983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500"/>
              <a:buFont typeface="Outfit"/>
              <a:buNone/>
            </a:pPr>
            <a:r>
              <a:rPr b="0" i="0" lang="ca" sz="75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Moltes gràcies!</a:t>
            </a:r>
            <a:endParaRPr b="0" i="0" sz="7500" u="none" cap="none" strike="noStrike">
              <a:solidFill>
                <a:srgbClr val="0A29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/>
          <p:nvPr/>
        </p:nvSpPr>
        <p:spPr>
          <a:xfrm>
            <a:off x="214330" y="4814900"/>
            <a:ext cx="1247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somenergia.coop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1">
            <a:hlinkClick r:id="rId6"/>
          </p:cNvPr>
          <p:cNvSpPr/>
          <p:nvPr/>
        </p:nvSpPr>
        <p:spPr>
          <a:xfrm>
            <a:off x="214325" y="4814900"/>
            <a:ext cx="10557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1"/>
          <p:cNvSpPr/>
          <p:nvPr/>
        </p:nvSpPr>
        <p:spPr>
          <a:xfrm>
            <a:off x="2428875" y="4814900"/>
            <a:ext cx="1654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info@somenergia.coop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8639175" y="4814888"/>
            <a:ext cx="2905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